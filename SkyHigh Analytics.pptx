
<file path=[Content_Types].xml><?xml version="1.0" encoding="utf-8"?>
<Types xmlns="http://schemas.openxmlformats.org/package/2006/content-types"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6.xml" ContentType="application/vnd.openxmlformats-officedocument.presentationml.notes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Slides/notesSlide7.xml" ContentType="application/vnd.openxmlformats-officedocument.presentationml.notesSlide+xml"/>
  <Override PartName="/ppt/charts/chart7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0" d="100"/>
          <a:sy n="100" d="100"/>
        </p:scale>
        <p:origin x="92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A2540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1A2540"/>
                </a:solidFill>
                <a:latin typeface="Arial"/>
              </a:rPr>
              <a:t>Top 5 Countries by Passenger Count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Passengers</c:v>
                </c:pt>
              </c:strCache>
            </c:strRef>
          </c:tx>
          <c:spPr>
            <a:solidFill>
              <a:srgbClr val="1A56B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UK</c:v>
                </c:pt>
                <c:pt idx="1">
                  <c:v>France</c:v>
                </c:pt>
                <c:pt idx="2">
                  <c:v>UAE</c:v>
                </c:pt>
                <c:pt idx="3">
                  <c:v>USA</c:v>
                </c:pt>
                <c:pt idx="4">
                  <c:v>Australia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127</c:v>
                </c:pt>
                <c:pt idx="1">
                  <c:v>107</c:v>
                </c:pt>
                <c:pt idx="2">
                  <c:v>104</c:v>
                </c:pt>
                <c:pt idx="3">
                  <c:v>101</c:v>
                </c:pt>
                <c:pt idx="4">
                  <c:v>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11E-4A0C-B0F4-95E6AB635EB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A2540"/>
                </a:solidFill>
                <a:latin typeface="Arial"/>
              </a:defRPr>
            </a:pPr>
            <a:r>
              <a:rPr lang="en-IN" sz="1200" b="0" i="0" u="none" strike="noStrike">
                <a:solidFill>
                  <a:srgbClr val="1A2540"/>
                </a:solidFill>
                <a:latin typeface="Arial"/>
              </a:rPr>
              <a:t>Age Group Distribution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Age Groups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A56B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0AD2-4AA5-A31E-46F8511AD1B1}"/>
              </c:ext>
            </c:extLst>
          </c:dPt>
          <c:dPt>
            <c:idx val="1"/>
            <c:bubble3D val="0"/>
            <c:spPr>
              <a:solidFill>
                <a:srgbClr val="F5A62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AD2-4AA5-A31E-46F8511AD1B1}"/>
              </c:ext>
            </c:extLst>
          </c:dPt>
          <c:dPt>
            <c:idx val="2"/>
            <c:bubble3D val="0"/>
            <c:spPr>
              <a:solidFill>
                <a:srgbClr val="00875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0AD2-4AA5-A31E-46F8511AD1B1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0AD2-4AA5-A31E-46F8511AD1B1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0AD2-4AA5-A31E-46F8511AD1B1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0AD2-4AA5-A31E-46F8511AD1B1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Adults (20-50)</c:v>
                </c:pt>
                <c:pt idx="1">
                  <c:v>Seniors (50+)</c:v>
                </c:pt>
                <c:pt idx="2">
                  <c:v>Teens (≤19)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561</c:v>
                </c:pt>
                <c:pt idx="1">
                  <c:v>414</c:v>
                </c:pt>
                <c:pt idx="2">
                  <c:v>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0AD2-4AA5-A31E-46F8511AD1B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A2540"/>
                </a:solidFill>
                <a:latin typeface="Arial"/>
              </a:defRPr>
            </a:pPr>
            <a:r>
              <a:rPr lang="en-IN" sz="1200" b="0" i="0" u="none" strike="noStrike">
                <a:solidFill>
                  <a:srgbClr val="1A2540"/>
                </a:solidFill>
                <a:latin typeface="Arial"/>
              </a:rPr>
              <a:t>Airline Popularity (# of Flights)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Flights</c:v>
                </c:pt>
              </c:strCache>
            </c:strRef>
          </c:tx>
          <c:spPr>
            <a:solidFill>
              <a:srgbClr val="2D8653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Lufthansa</c:v>
                </c:pt>
                <c:pt idx="1">
                  <c:v>Air India</c:v>
                </c:pt>
                <c:pt idx="2">
                  <c:v>British Airways</c:v>
                </c:pt>
                <c:pt idx="3">
                  <c:v>Qatar Airways</c:v>
                </c:pt>
                <c:pt idx="4">
                  <c:v>Singapore Airlines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</c:v>
                </c:pt>
                <c:pt idx="1">
                  <c:v>9</c:v>
                </c:pt>
                <c:pt idx="2">
                  <c:v>8</c:v>
                </c:pt>
                <c:pt idx="3">
                  <c:v>7</c:v>
                </c:pt>
                <c:pt idx="4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571-4B0D-BE9D-2175813347E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A2540"/>
                </a:solidFill>
                <a:latin typeface="Arial"/>
              </a:defRPr>
            </a:pPr>
            <a:r>
              <a:rPr lang="en-IN" sz="1200" b="0" i="0" u="none" strike="noStrike">
                <a:solidFill>
                  <a:srgbClr val="1A2540"/>
                </a:solidFill>
                <a:latin typeface="Arial"/>
              </a:rPr>
              <a:t>Top Destination Cities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Visits</c:v>
                </c:pt>
              </c:strCache>
            </c:strRef>
          </c:tx>
          <c:spPr>
            <a:solidFill>
              <a:srgbClr val="F5A623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Doha</c:v>
                </c:pt>
                <c:pt idx="1">
                  <c:v>Frankfurt</c:v>
                </c:pt>
                <c:pt idx="2">
                  <c:v>Singapore</c:v>
                </c:pt>
                <c:pt idx="3">
                  <c:v>Paris</c:v>
                </c:pt>
                <c:pt idx="4">
                  <c:v>Dubai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</c:v>
                </c:pt>
                <c:pt idx="1">
                  <c:v>8</c:v>
                </c:pt>
                <c:pt idx="2">
                  <c:v>7</c:v>
                </c:pt>
                <c:pt idx="3">
                  <c:v>6</c:v>
                </c:pt>
                <c:pt idx="4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C65-4008-8ABD-9B28F62D5C8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A2540"/>
                </a:solidFill>
                <a:latin typeface="Arial"/>
              </a:defRPr>
            </a:pPr>
            <a:r>
              <a:rPr lang="en-IN" sz="1200" b="0" i="0" u="none" strike="noStrike" dirty="0">
                <a:solidFill>
                  <a:srgbClr val="1A2540"/>
                </a:solidFill>
                <a:latin typeface="Arial"/>
              </a:rPr>
              <a:t>Monthly Booking Volume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Bookings</c:v>
                </c:pt>
              </c:strCache>
            </c:strRef>
          </c:tx>
          <c:spPr>
            <a:solidFill>
              <a:srgbClr val="1A56B0"/>
            </a:solidFill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453</c:v>
                </c:pt>
                <c:pt idx="1">
                  <c:v>412</c:v>
                </c:pt>
                <c:pt idx="2">
                  <c:v>468</c:v>
                </c:pt>
                <c:pt idx="3">
                  <c:v>421</c:v>
                </c:pt>
                <c:pt idx="4">
                  <c:v>432</c:v>
                </c:pt>
                <c:pt idx="5">
                  <c:v>425</c:v>
                </c:pt>
                <c:pt idx="6">
                  <c:v>418</c:v>
                </c:pt>
                <c:pt idx="7">
                  <c:v>427</c:v>
                </c:pt>
                <c:pt idx="8">
                  <c:v>415</c:v>
                </c:pt>
                <c:pt idx="9">
                  <c:v>409</c:v>
                </c:pt>
                <c:pt idx="10">
                  <c:v>374</c:v>
                </c:pt>
                <c:pt idx="11">
                  <c:v>346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331-48FD-9429-C79336BB5AC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A2540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1A2540"/>
                </a:solidFill>
                <a:latin typeface="Arial"/>
              </a:rPr>
              <a:t>Business vs Economy (Avg Price)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Seat Class Revenue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9B59B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2014-40BC-BE43-60E03D093E06}"/>
              </c:ext>
            </c:extLst>
          </c:dPt>
          <c:dPt>
            <c:idx val="1"/>
            <c:bubble3D val="0"/>
            <c:spPr>
              <a:solidFill>
                <a:srgbClr val="00875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2014-40BC-BE43-60E03D093E06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2014-40BC-BE43-60E03D093E06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2014-40BC-BE43-60E03D093E06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Business Class</c:v>
                </c:pt>
                <c:pt idx="1">
                  <c:v>Economy Class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36905</c:v>
                </c:pt>
                <c:pt idx="1">
                  <c:v>8905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2014-40BC-BE43-60E03D093E0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A2540"/>
                </a:solidFill>
                <a:latin typeface="Arial"/>
              </a:defRPr>
            </a:pPr>
            <a:r>
              <a:rPr lang="en-IN" sz="1200" b="0" i="0" u="none" strike="noStrike">
                <a:solidFill>
                  <a:srgbClr val="1A2540"/>
                </a:solidFill>
                <a:latin typeface="Arial"/>
              </a:rPr>
              <a:t>Total Revenue by Airline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(₹)</c:v>
                </c:pt>
              </c:strCache>
            </c:strRef>
          </c:tx>
          <c:spPr>
            <a:solidFill>
              <a:srgbClr val="7B3FA0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Lufthansa</c:v>
                </c:pt>
                <c:pt idx="1">
                  <c:v>Air India</c:v>
                </c:pt>
                <c:pt idx="2">
                  <c:v>British Airways</c:v>
                </c:pt>
                <c:pt idx="3">
                  <c:v>Qatar Airways</c:v>
                </c:pt>
                <c:pt idx="4">
                  <c:v>Singapore Airlines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21601867</c:v>
                </c:pt>
                <c:pt idx="1">
                  <c:v>20503348</c:v>
                </c:pt>
                <c:pt idx="2">
                  <c:v>17043404</c:v>
                </c:pt>
                <c:pt idx="3">
                  <c:v>16412658</c:v>
                </c:pt>
                <c:pt idx="4">
                  <c:v>14147807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7CE-4F8E-84B8-5BBC9FCF1B2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848198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svg"/><Relationship Id="rId4" Type="http://schemas.openxmlformats.org/officeDocument/2006/relationships/chart" Target="../charts/char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svg"/><Relationship Id="rId4" Type="http://schemas.openxmlformats.org/officeDocument/2006/relationships/chart" Target="../charts/char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svg"/><Relationship Id="rId4" Type="http://schemas.openxmlformats.org/officeDocument/2006/relationships/chart" Target="../charts/char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0" y="-1097280"/>
            <a:ext cx="5029200" cy="5029200"/>
          </a:xfrm>
          <a:prstGeom prst="ellipse">
            <a:avLst/>
          </a:prstGeom>
          <a:solidFill>
            <a:srgbClr val="1A56B0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583680" y="-457200"/>
            <a:ext cx="3657600" cy="3657600"/>
          </a:xfrm>
          <a:prstGeom prst="ellipse">
            <a:avLst/>
          </a:prstGeom>
          <a:solidFill>
            <a:srgbClr val="4A90D9">
              <a:alpha val="2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858000" y="4572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0" dirty="0">
                <a:solidFill>
                  <a:srgbClr val="F5A623">
                    <a:alpha val="80000"/>
                  </a:srgbClr>
                </a:solidFill>
              </a:rPr>
              <a:t>✈</a:t>
            </a:r>
            <a:endParaRPr lang="en-US" sz="8000" dirty="0"/>
          </a:p>
        </p:txBody>
      </p:sp>
      <p:sp>
        <p:nvSpPr>
          <p:cNvPr id="6" name="Text 4"/>
          <p:cNvSpPr/>
          <p:nvPr/>
        </p:nvSpPr>
        <p:spPr>
          <a:xfrm>
            <a:off x="365760" y="237744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500" dirty="0">
                <a:solidFill>
                  <a:srgbClr val="F5A623"/>
                </a:solidFill>
              </a:rPr>
              <a:t>By Anand  Saundarya </a:t>
            </a:r>
            <a:r>
              <a:rPr lang="en-US" sz="1400" b="1" kern="0" spc="500" dirty="0">
                <a:solidFill>
                  <a:srgbClr val="F5A623"/>
                </a:solidFill>
                <a:sym typeface="Wingdings" panose="05000000000000000000" pitchFamily="2" charset="2"/>
              </a:rPr>
              <a:t></a:t>
            </a:r>
          </a:p>
          <a:p>
            <a:pPr marL="0" indent="0">
              <a:buNone/>
            </a:pP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1188720"/>
            <a:ext cx="6858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4000" b="1" dirty="0" err="1">
                <a:solidFill>
                  <a:schemeClr val="bg1"/>
                </a:solidFill>
                <a:latin typeface="Arial Black" panose="020B0A04020102020204" pitchFamily="34" charset="0"/>
              </a:rPr>
              <a:t>SkyHigh</a:t>
            </a:r>
            <a:r>
              <a:rPr lang="en-IN" sz="4000" b="1" dirty="0">
                <a:solidFill>
                  <a:schemeClr val="bg1"/>
                </a:solidFill>
                <a:latin typeface="Arial Black" panose="020B0A04020102020204" pitchFamily="34" charset="0"/>
              </a:rPr>
              <a:t> Analytics</a:t>
            </a:r>
            <a:endParaRPr lang="en-US" sz="4000" b="1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365760" y="292608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65760" y="4114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B8DA6"/>
                </a:solidFill>
              </a:rPr>
              <a:t>Dataset: 1,000 Passengers  |  50 Flights  |  5,000 Bookings</a:t>
            </a:r>
            <a:endParaRPr lang="en-US" sz="11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3C624F9-1695-8BBB-8B2C-C66FA95A9F03}"/>
              </a:ext>
            </a:extLst>
          </p:cNvPr>
          <p:cNvSpPr txBox="1"/>
          <p:nvPr/>
        </p:nvSpPr>
        <p:spPr>
          <a:xfrm>
            <a:off x="5524500" y="4200644"/>
            <a:ext cx="30175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200" b="1" kern="0" spc="500" dirty="0">
                <a:solidFill>
                  <a:srgbClr val="F5A623"/>
                </a:solidFill>
                <a:sym typeface="Wingdings" panose="05000000000000000000" pitchFamily="2" charset="2"/>
              </a:rPr>
              <a:t>Friday,06 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PROJECT OVERVIEW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280160"/>
            <a:ext cx="402336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280160"/>
            <a:ext cx="73152" cy="1554480"/>
          </a:xfrm>
          <a:prstGeom prst="rect">
            <a:avLst/>
          </a:prstGeom>
          <a:solidFill>
            <a:srgbClr val="1A56B0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141732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540"/>
                </a:solidFill>
              </a:rPr>
              <a:t>❓  Business Problem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828800"/>
            <a:ext cx="3794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B8DA6"/>
                </a:solidFill>
              </a:rPr>
              <a:t>Airlines struggle with pricing, route planning, and marketing without proper data analysis.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1280160"/>
            <a:ext cx="402336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1280160"/>
            <a:ext cx="73152" cy="1554480"/>
          </a:xfrm>
          <a:prstGeom prst="rect">
            <a:avLst/>
          </a:prstGeom>
          <a:solidFill>
            <a:srgbClr val="1A56B0"/>
          </a:solidFill>
          <a:ln/>
        </p:spPr>
      </p:sp>
      <p:sp>
        <p:nvSpPr>
          <p:cNvPr id="10" name="Text 8"/>
          <p:cNvSpPr/>
          <p:nvPr/>
        </p:nvSpPr>
        <p:spPr>
          <a:xfrm>
            <a:off x="4800600" y="141732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540"/>
                </a:solidFill>
              </a:rPr>
              <a:t>🎯  Goal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00600" y="1828800"/>
            <a:ext cx="3794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B8DA6"/>
                </a:solidFill>
              </a:rPr>
              <a:t>Transform raw airline booking data into actionable insights for strategic decision-making.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3017520"/>
            <a:ext cx="402336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3017520"/>
            <a:ext cx="73152" cy="1554480"/>
          </a:xfrm>
          <a:prstGeom prst="rect">
            <a:avLst/>
          </a:prstGeom>
          <a:solidFill>
            <a:srgbClr val="1A56B0"/>
          </a:solidFill>
          <a:ln/>
        </p:spPr>
      </p:sp>
      <p:sp>
        <p:nvSpPr>
          <p:cNvPr id="14" name="Text 12"/>
          <p:cNvSpPr/>
          <p:nvPr/>
        </p:nvSpPr>
        <p:spPr>
          <a:xfrm>
            <a:off x="411480" y="315468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540"/>
                </a:solidFill>
              </a:rPr>
              <a:t>🔬  Methodology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11480" y="3566160"/>
            <a:ext cx="3794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B8DA6"/>
                </a:solidFill>
              </a:rPr>
              <a:t>SQL analysis across 3 relational tables covering passengers, flights, and bookings.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63440" y="3017520"/>
            <a:ext cx="402336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3017520"/>
            <a:ext cx="73152" cy="1554480"/>
          </a:xfrm>
          <a:prstGeom prst="rect">
            <a:avLst/>
          </a:prstGeom>
          <a:solidFill>
            <a:srgbClr val="1A56B0"/>
          </a:solidFill>
          <a:ln/>
        </p:spPr>
      </p:sp>
      <p:sp>
        <p:nvSpPr>
          <p:cNvPr id="18" name="Text 16"/>
          <p:cNvSpPr/>
          <p:nvPr/>
        </p:nvSpPr>
        <p:spPr>
          <a:xfrm>
            <a:off x="4800600" y="315468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540"/>
                </a:solidFill>
              </a:rPr>
              <a:t>📈  Outcome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00600" y="3566160"/>
            <a:ext cx="3794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B8DA6"/>
                </a:solidFill>
              </a:rPr>
              <a:t>Actionable recommendations for revenue growth, route optimization &amp; customer targeting.</a:t>
            </a:r>
            <a:endParaRPr lang="en-US" sz="1100" dirty="0"/>
          </a:p>
        </p:txBody>
      </p:sp>
      <p:pic>
        <p:nvPicPr>
          <p:cNvPr id="23" name="Graphic 22" descr="Airplane with solid fill">
            <a:extLst>
              <a:ext uri="{FF2B5EF4-FFF2-40B4-BE49-F238E27FC236}">
                <a16:creationId xmlns:a16="http://schemas.microsoft.com/office/drawing/2014/main" id="{2FFB9EC9-02F9-A182-B05F-8ED075E3A61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>
            <a:off x="955623" y="466344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DATASET &amp; SCHEMA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1188720"/>
            <a:ext cx="274320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1188720"/>
            <a:ext cx="2743200" cy="548640"/>
          </a:xfrm>
          <a:prstGeom prst="rect">
            <a:avLst/>
          </a:prstGeom>
          <a:solidFill>
            <a:srgbClr val="1A56B0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1887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Passengers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18745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540"/>
                </a:solidFill>
              </a:rPr>
              <a:t>• passenger_id (PK)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65760" y="221284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540"/>
                </a:solidFill>
              </a:rPr>
              <a:t>• name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65760" y="2551176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540"/>
                </a:solidFill>
              </a:rPr>
              <a:t>• age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65760" y="2889504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540"/>
                </a:solidFill>
              </a:rPr>
              <a:t>• gender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65760" y="322783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540"/>
                </a:solidFill>
              </a:rPr>
              <a:t>• country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28600" y="4389120"/>
            <a:ext cx="2743200" cy="274320"/>
          </a:xfrm>
          <a:prstGeom prst="rect">
            <a:avLst/>
          </a:prstGeom>
          <a:solidFill>
            <a:srgbClr val="1A56B0">
              <a:alpha val="15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320040" y="43891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56B0"/>
                </a:solidFill>
              </a:rPr>
              <a:t>1,000 records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154680" y="1188720"/>
            <a:ext cx="274320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154680" y="1188720"/>
            <a:ext cx="2743200" cy="5486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6" name="Text 14"/>
          <p:cNvSpPr/>
          <p:nvPr/>
        </p:nvSpPr>
        <p:spPr>
          <a:xfrm>
            <a:off x="3246120" y="11887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Bookings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291840" y="18745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540"/>
                </a:solidFill>
              </a:rPr>
              <a:t>• booking_id (PK)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291840" y="221284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540"/>
                </a:solidFill>
              </a:rPr>
              <a:t>• passenger_id (FK)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291840" y="2551176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540"/>
                </a:solidFill>
              </a:rPr>
              <a:t>• flight_id (FK)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291840" y="2889504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540"/>
                </a:solidFill>
              </a:rPr>
              <a:t>• ticket_price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291840" y="322783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540"/>
                </a:solidFill>
              </a:rPr>
              <a:t>• booking_date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291840" y="35661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540"/>
                </a:solidFill>
              </a:rPr>
              <a:t>• seat_class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154680" y="4389120"/>
            <a:ext cx="2743200" cy="274320"/>
          </a:xfrm>
          <a:prstGeom prst="rect">
            <a:avLst/>
          </a:prstGeom>
          <a:solidFill>
            <a:srgbClr val="F5A623">
              <a:alpha val="15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3246120" y="43891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A623"/>
                </a:solidFill>
              </a:rPr>
              <a:t>5,000 records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080760" y="1188720"/>
            <a:ext cx="274320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080760" y="1188720"/>
            <a:ext cx="2743200" cy="548640"/>
          </a:xfrm>
          <a:prstGeom prst="rect">
            <a:avLst/>
          </a:prstGeom>
          <a:solidFill>
            <a:srgbClr val="2D8653"/>
          </a:solidFill>
          <a:ln/>
        </p:spPr>
      </p:sp>
      <p:sp>
        <p:nvSpPr>
          <p:cNvPr id="27" name="Text 25"/>
          <p:cNvSpPr/>
          <p:nvPr/>
        </p:nvSpPr>
        <p:spPr>
          <a:xfrm>
            <a:off x="6172200" y="11887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Flights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217920" y="18745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540"/>
                </a:solidFill>
              </a:rPr>
              <a:t>• flight_id (PK)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217920" y="221284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540"/>
                </a:solidFill>
              </a:rPr>
              <a:t>• airline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217920" y="2551176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540"/>
                </a:solidFill>
              </a:rPr>
              <a:t>• source_city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217920" y="2889504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540"/>
                </a:solidFill>
              </a:rPr>
              <a:t>• destination_city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217920" y="322783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540"/>
                </a:solidFill>
              </a:rPr>
              <a:t>• distance_km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080760" y="4389120"/>
            <a:ext cx="2743200" cy="274320"/>
          </a:xfrm>
          <a:prstGeom prst="rect">
            <a:avLst/>
          </a:prstGeom>
          <a:solidFill>
            <a:srgbClr val="2D8653">
              <a:alpha val="15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6172200" y="43891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D8653"/>
                </a:solidFill>
              </a:rPr>
              <a:t>50 records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2971800" y="2560320"/>
            <a:ext cx="502920" cy="64008"/>
          </a:xfrm>
          <a:prstGeom prst="rect">
            <a:avLst/>
          </a:prstGeom>
          <a:solidFill>
            <a:srgbClr val="7B8DA6"/>
          </a:solidFill>
          <a:ln/>
        </p:spPr>
      </p:sp>
      <p:sp>
        <p:nvSpPr>
          <p:cNvPr id="36" name="Shape 34"/>
          <p:cNvSpPr/>
          <p:nvPr/>
        </p:nvSpPr>
        <p:spPr>
          <a:xfrm>
            <a:off x="5897880" y="2560320"/>
            <a:ext cx="502920" cy="64008"/>
          </a:xfrm>
          <a:prstGeom prst="rect">
            <a:avLst/>
          </a:prstGeom>
          <a:solidFill>
            <a:srgbClr val="7B8DA6"/>
          </a:solidFill>
          <a:ln/>
        </p:spPr>
      </p:sp>
      <p:sp>
        <p:nvSpPr>
          <p:cNvPr id="37" name="Text 35"/>
          <p:cNvSpPr/>
          <p:nvPr/>
        </p:nvSpPr>
        <p:spPr>
          <a:xfrm>
            <a:off x="3017520" y="23317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B8DA6"/>
                </a:solidFill>
              </a:rPr>
              <a:t>1:N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943600" y="23317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B8DA6"/>
                </a:solidFill>
              </a:rPr>
              <a:t>N:1</a:t>
            </a:r>
            <a:endParaRPr lang="en-US" sz="900" dirty="0"/>
          </a:p>
        </p:txBody>
      </p:sp>
      <p:pic>
        <p:nvPicPr>
          <p:cNvPr id="39" name="Graphic 38" descr="Airplane with solid fill">
            <a:extLst>
              <a:ext uri="{FF2B5EF4-FFF2-40B4-BE49-F238E27FC236}">
                <a16:creationId xmlns:a16="http://schemas.microsoft.com/office/drawing/2014/main" id="{2F6910DC-A469-40A4-FA25-1B1A9E5684E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>
            <a:off x="2240280" y="4694292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56B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PHASE 1 – PASSENGER INSIGHTS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1188720"/>
            <a:ext cx="196596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1188720"/>
            <a:ext cx="1965960" cy="73152"/>
          </a:xfrm>
          <a:prstGeom prst="rect">
            <a:avLst/>
          </a:prstGeom>
          <a:solidFill>
            <a:srgbClr val="1A56B0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32588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56B0"/>
                </a:solidFill>
              </a:rPr>
              <a:t>45 yrs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20040" y="192024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2540"/>
                </a:solidFill>
              </a:rPr>
              <a:t>Avg. Passenger Age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20040" y="224028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B8DA6"/>
                </a:solidFill>
              </a:rPr>
              <a:t>Adults 20–50 dominate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423160" y="1188720"/>
            <a:ext cx="196596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23160" y="1188720"/>
            <a:ext cx="1965960" cy="73152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11" name="Text 9"/>
          <p:cNvSpPr/>
          <p:nvPr/>
        </p:nvSpPr>
        <p:spPr>
          <a:xfrm>
            <a:off x="2514600" y="132588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9B59B6"/>
                </a:solidFill>
              </a:rPr>
              <a:t>511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514600" y="192024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2540"/>
                </a:solidFill>
              </a:rPr>
              <a:t>Female Passengers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514600" y="224028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B8DA6"/>
                </a:solidFill>
              </a:rPr>
              <a:t>vs 489 Male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617720" y="1188720"/>
            <a:ext cx="196596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17720" y="1188720"/>
            <a:ext cx="1965960" cy="73152"/>
          </a:xfrm>
          <a:prstGeom prst="rect">
            <a:avLst/>
          </a:prstGeom>
          <a:solidFill>
            <a:srgbClr val="00875A"/>
          </a:solidFill>
          <a:ln/>
        </p:spPr>
      </p:sp>
      <p:sp>
        <p:nvSpPr>
          <p:cNvPr id="16" name="Text 14"/>
          <p:cNvSpPr/>
          <p:nvPr/>
        </p:nvSpPr>
        <p:spPr>
          <a:xfrm>
            <a:off x="4709160" y="132588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875A"/>
                </a:solidFill>
              </a:rPr>
              <a:t>🇬🇧 UK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709160" y="192024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2540"/>
                </a:solidFill>
              </a:rPr>
              <a:t>Top Country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709160" y="224028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B8DA6"/>
                </a:solidFill>
              </a:rPr>
              <a:t>127 passengers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812280" y="1188720"/>
            <a:ext cx="196596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812280" y="1188720"/>
            <a:ext cx="1965960" cy="7315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1" name="Text 19"/>
          <p:cNvSpPr/>
          <p:nvPr/>
        </p:nvSpPr>
        <p:spPr>
          <a:xfrm>
            <a:off x="6903720" y="132588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A623"/>
                </a:solidFill>
              </a:rPr>
              <a:t>Adults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903720" y="192024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2540"/>
                </a:solidFill>
              </a:rPr>
              <a:t>Largest Age Group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903720" y="224028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B8DA6"/>
                </a:solidFill>
              </a:rPr>
              <a:t>561 passengers (56%)</a:t>
            </a:r>
            <a:endParaRPr lang="en-US" sz="900" dirty="0"/>
          </a:p>
        </p:txBody>
      </p:sp>
      <p:graphicFrame>
        <p:nvGraphicFramePr>
          <p:cNvPr id="24" name="Chart 0"/>
          <p:cNvGraphicFramePr/>
          <p:nvPr/>
        </p:nvGraphicFramePr>
        <p:xfrm>
          <a:off x="228600" y="2788920"/>
          <a:ext cx="5029200" cy="2103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5" name="Chart 1"/>
          <p:cNvGraphicFramePr/>
          <p:nvPr/>
        </p:nvGraphicFramePr>
        <p:xfrm>
          <a:off x="5394960" y="2788920"/>
          <a:ext cx="3566160" cy="2103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pic>
        <p:nvPicPr>
          <p:cNvPr id="26" name="Graphic 25" descr="Airplane with solid fill">
            <a:extLst>
              <a:ext uri="{FF2B5EF4-FFF2-40B4-BE49-F238E27FC236}">
                <a16:creationId xmlns:a16="http://schemas.microsoft.com/office/drawing/2014/main" id="{9D553EB8-8D40-F750-11D0-8E58EC8FC90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5400000">
            <a:off x="3840480" y="468630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D865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PHASE 2 – FLIGHT &amp; ROUTE OPERATIONS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274320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143000"/>
            <a:ext cx="2743200" cy="73152"/>
          </a:xfrm>
          <a:prstGeom prst="rect">
            <a:avLst/>
          </a:prstGeom>
          <a:solidFill>
            <a:srgbClr val="2D8653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2344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D8653"/>
                </a:solidFill>
              </a:rPr>
              <a:t>4,189 km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65760" y="17373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B8DA6"/>
                </a:solidFill>
              </a:rPr>
              <a:t>Avg. Flight Distance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46120" y="1143000"/>
            <a:ext cx="274320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46120" y="1143000"/>
            <a:ext cx="2743200" cy="73152"/>
          </a:xfrm>
          <a:prstGeom prst="rect">
            <a:avLst/>
          </a:prstGeom>
          <a:solidFill>
            <a:srgbClr val="1A56B0"/>
          </a:solidFill>
          <a:ln/>
        </p:spPr>
      </p:sp>
      <p:sp>
        <p:nvSpPr>
          <p:cNvPr id="10" name="Text 8"/>
          <p:cNvSpPr/>
          <p:nvPr/>
        </p:nvSpPr>
        <p:spPr>
          <a:xfrm>
            <a:off x="3337560" y="12344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A56B0"/>
                </a:solidFill>
              </a:rPr>
              <a:t>Doha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337560" y="17373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B8DA6"/>
                </a:solidFill>
              </a:rPr>
              <a:t>Top Destination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17920" y="1143000"/>
            <a:ext cx="274320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17920" y="1143000"/>
            <a:ext cx="2743200" cy="7315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4" name="Text 12"/>
          <p:cNvSpPr/>
          <p:nvPr/>
        </p:nvSpPr>
        <p:spPr>
          <a:xfrm>
            <a:off x="6309360" y="12344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A623"/>
                </a:solidFill>
              </a:rPr>
              <a:t>Lufthansa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309360" y="17373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B8DA6"/>
                </a:solidFill>
              </a:rPr>
              <a:t>#1 Airline (Flights)</a:t>
            </a:r>
            <a:endParaRPr lang="en-US" sz="1000" dirty="0"/>
          </a:p>
        </p:txBody>
      </p:sp>
      <p:graphicFrame>
        <p:nvGraphicFramePr>
          <p:cNvPr id="16" name="Chart 0"/>
          <p:cNvGraphicFramePr/>
          <p:nvPr/>
        </p:nvGraphicFramePr>
        <p:xfrm>
          <a:off x="228600" y="2331720"/>
          <a:ext cx="502920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7" name="Chart 1"/>
          <p:cNvGraphicFramePr/>
          <p:nvPr/>
        </p:nvGraphicFramePr>
        <p:xfrm>
          <a:off x="5394960" y="2331720"/>
          <a:ext cx="356616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pic>
        <p:nvPicPr>
          <p:cNvPr id="18" name="Graphic 17" descr="Airplane with solid fill">
            <a:extLst>
              <a:ext uri="{FF2B5EF4-FFF2-40B4-BE49-F238E27FC236}">
                <a16:creationId xmlns:a16="http://schemas.microsoft.com/office/drawing/2014/main" id="{9B15D3E7-4AB1-BCA0-9645-F7B1B775401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5400000">
            <a:off x="5303520" y="468630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PHASE 3 – BOOKING &amp; REVENUE ANALYSIS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1143000"/>
            <a:ext cx="196596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1143000"/>
            <a:ext cx="1965960" cy="64008"/>
          </a:xfrm>
          <a:prstGeom prst="rect">
            <a:avLst/>
          </a:prstGeom>
          <a:solidFill>
            <a:srgbClr val="1A56B0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23444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56B0"/>
                </a:solidFill>
              </a:rPr>
              <a:t>₹11.47 Cr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20040" y="178308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B8DA6"/>
                </a:solidFill>
              </a:rPr>
              <a:t>Total Revenue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23160" y="1143000"/>
            <a:ext cx="196596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423160" y="1143000"/>
            <a:ext cx="1965960" cy="64008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10" name="Text 8"/>
          <p:cNvSpPr/>
          <p:nvPr/>
        </p:nvSpPr>
        <p:spPr>
          <a:xfrm>
            <a:off x="2514600" y="123444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9B59B6"/>
                </a:solidFill>
              </a:rPr>
              <a:t>₹36,905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514600" y="178308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B8DA6"/>
                </a:solidFill>
              </a:rPr>
              <a:t>Business Class Avg Ticket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17720" y="1143000"/>
            <a:ext cx="196596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17720" y="1143000"/>
            <a:ext cx="1965960" cy="64008"/>
          </a:xfrm>
          <a:prstGeom prst="rect">
            <a:avLst/>
          </a:prstGeom>
          <a:solidFill>
            <a:srgbClr val="00875A"/>
          </a:solidFill>
          <a:ln/>
        </p:spPr>
      </p:sp>
      <p:sp>
        <p:nvSpPr>
          <p:cNvPr id="14" name="Text 12"/>
          <p:cNvSpPr/>
          <p:nvPr/>
        </p:nvSpPr>
        <p:spPr>
          <a:xfrm>
            <a:off x="4709160" y="123444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875A"/>
                </a:solidFill>
              </a:rPr>
              <a:t>₹8,905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709160" y="178308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dirty="0">
                <a:solidFill>
                  <a:srgbClr val="7B8DA6"/>
                </a:solidFill>
              </a:rPr>
              <a:t>Economy Class Avg Ticket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812280" y="1143000"/>
            <a:ext cx="196596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812280" y="1143000"/>
            <a:ext cx="1965960" cy="6400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8" name="Text 16"/>
          <p:cNvSpPr/>
          <p:nvPr/>
        </p:nvSpPr>
        <p:spPr>
          <a:xfrm>
            <a:off x="6903720" y="123444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A623"/>
                </a:solidFill>
              </a:rPr>
              <a:t>₹3K–70K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903720" y="178308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B8DA6"/>
                </a:solidFill>
              </a:rPr>
              <a:t>Price Range</a:t>
            </a:r>
            <a:endParaRPr lang="en-US" sz="1000" dirty="0"/>
          </a:p>
        </p:txBody>
      </p:sp>
      <p:graphicFrame>
        <p:nvGraphicFramePr>
          <p:cNvPr id="20" name="Chart 0"/>
          <p:cNvGraphicFramePr/>
          <p:nvPr>
            <p:extLst>
              <p:ext uri="{D42A27DB-BD31-4B8C-83A1-F6EECF244321}">
                <p14:modId xmlns:p14="http://schemas.microsoft.com/office/powerpoint/2010/main" val="3986450959"/>
              </p:ext>
            </p:extLst>
          </p:nvPr>
        </p:nvGraphicFramePr>
        <p:xfrm>
          <a:off x="228600" y="2514600"/>
          <a:ext cx="5394960" cy="237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1" name="Chart 1"/>
          <p:cNvGraphicFramePr/>
          <p:nvPr/>
        </p:nvGraphicFramePr>
        <p:xfrm>
          <a:off x="5760720" y="2514600"/>
          <a:ext cx="3154680" cy="237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pic>
        <p:nvPicPr>
          <p:cNvPr id="22" name="Graphic 21" descr="Airplane with solid fill">
            <a:extLst>
              <a:ext uri="{FF2B5EF4-FFF2-40B4-BE49-F238E27FC236}">
                <a16:creationId xmlns:a16="http://schemas.microsoft.com/office/drawing/2014/main" id="{558C9C9E-5ED0-CCF7-80B4-3E3EFDC3C6F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5400000">
            <a:off x="6126480" y="468630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7B3FA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PHASE 4 – ADVANCED CROSS-DATA ANALYSIS</a:t>
            </a:r>
            <a:endParaRPr lang="en-US" sz="2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28600" y="1188720"/>
          <a:ext cx="5303520" cy="2651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5760720" y="12344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540"/>
                </a:solidFill>
              </a:rPr>
              <a:t>Key Findings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760720" y="1737360"/>
            <a:ext cx="315468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760720" y="1737360"/>
            <a:ext cx="64008" cy="566928"/>
          </a:xfrm>
          <a:prstGeom prst="rect">
            <a:avLst/>
          </a:prstGeom>
          <a:solidFill>
            <a:srgbClr val="7B3FA0"/>
          </a:solidFill>
          <a:ln/>
        </p:spPr>
      </p:sp>
      <p:sp>
        <p:nvSpPr>
          <p:cNvPr id="8" name="Text 5"/>
          <p:cNvSpPr/>
          <p:nvPr/>
        </p:nvSpPr>
        <p:spPr>
          <a:xfrm>
            <a:off x="5897880" y="1755648"/>
            <a:ext cx="2926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540"/>
                </a:solidFill>
              </a:rPr>
              <a:t>Lufthansa leads revenue at ₹2.16 Cr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760720" y="2395728"/>
            <a:ext cx="315468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760720" y="2395728"/>
            <a:ext cx="64008" cy="566928"/>
          </a:xfrm>
          <a:prstGeom prst="rect">
            <a:avLst/>
          </a:prstGeom>
          <a:solidFill>
            <a:srgbClr val="1A56B0"/>
          </a:solidFill>
          <a:ln/>
        </p:spPr>
      </p:sp>
      <p:sp>
        <p:nvSpPr>
          <p:cNvPr id="11" name="Text 8"/>
          <p:cNvSpPr/>
          <p:nvPr/>
        </p:nvSpPr>
        <p:spPr>
          <a:xfrm>
            <a:off x="5897880" y="2414016"/>
            <a:ext cx="2926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540"/>
                </a:solidFill>
              </a:rPr>
              <a:t>Air India dominates among Indian passengers (85 bookings)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760720" y="3054096"/>
            <a:ext cx="315468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760720" y="3054096"/>
            <a:ext cx="64008" cy="566928"/>
          </a:xfrm>
          <a:prstGeom prst="rect">
            <a:avLst/>
          </a:prstGeom>
          <a:solidFill>
            <a:srgbClr val="00875A"/>
          </a:solidFill>
          <a:ln/>
        </p:spPr>
      </p:sp>
      <p:sp>
        <p:nvSpPr>
          <p:cNvPr id="14" name="Text 11"/>
          <p:cNvSpPr/>
          <p:nvPr/>
        </p:nvSpPr>
        <p:spPr>
          <a:xfrm>
            <a:off x="5897880" y="3072384"/>
            <a:ext cx="2926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540"/>
                </a:solidFill>
              </a:rPr>
              <a:t>UK leads in Business class bookings (304)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760720" y="3712464"/>
            <a:ext cx="315468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760720" y="3712464"/>
            <a:ext cx="64008" cy="56692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7" name="Text 14"/>
          <p:cNvSpPr/>
          <p:nvPr/>
        </p:nvSpPr>
        <p:spPr>
          <a:xfrm>
            <a:off x="5897880" y="3730752"/>
            <a:ext cx="2926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540"/>
                </a:solidFill>
              </a:rPr>
              <a:t>Most bookings happen on Sundays (746)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260604" y="4157472"/>
            <a:ext cx="8686800" cy="868680"/>
          </a:xfrm>
          <a:prstGeom prst="rect">
            <a:avLst/>
          </a:prstGeom>
          <a:solidFill>
            <a:srgbClr val="F0E6FF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9" name="Shape 16"/>
          <p:cNvSpPr/>
          <p:nvPr/>
        </p:nvSpPr>
        <p:spPr>
          <a:xfrm>
            <a:off x="210312" y="4130523"/>
            <a:ext cx="64008" cy="868680"/>
          </a:xfrm>
          <a:prstGeom prst="rect">
            <a:avLst/>
          </a:prstGeom>
          <a:solidFill>
            <a:srgbClr val="7B3FA0"/>
          </a:solidFill>
          <a:ln/>
        </p:spPr>
      </p:sp>
      <p:sp>
        <p:nvSpPr>
          <p:cNvPr id="20" name="Text 17"/>
          <p:cNvSpPr/>
          <p:nvPr/>
        </p:nvSpPr>
        <p:spPr>
          <a:xfrm>
            <a:off x="365760" y="4082629"/>
            <a:ext cx="832104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540"/>
                </a:solidFill>
              </a:rPr>
              <a:t>Passenger Loyalty: Multiple passengers identified booking 3+ flights — prime targets for airline loyalty programs and personalized offers.</a:t>
            </a:r>
            <a:endParaRPr lang="en-US" sz="1100" dirty="0"/>
          </a:p>
        </p:txBody>
      </p:sp>
      <p:pic>
        <p:nvPicPr>
          <p:cNvPr id="21" name="Graphic 20" descr="Airplane with solid fill">
            <a:extLst>
              <a:ext uri="{FF2B5EF4-FFF2-40B4-BE49-F238E27FC236}">
                <a16:creationId xmlns:a16="http://schemas.microsoft.com/office/drawing/2014/main" id="{26E56CAB-AC79-DCB3-B7CF-E5A5EF9DE9A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5400000">
            <a:off x="7116336" y="468630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BUSINESS RECOMMENDATIONS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1188720"/>
            <a:ext cx="416052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38328" y="1389888"/>
            <a:ext cx="457200" cy="457200"/>
          </a:xfrm>
          <a:prstGeom prst="ellipse">
            <a:avLst/>
          </a:prstGeom>
          <a:solidFill>
            <a:srgbClr val="1A56B0"/>
          </a:solidFill>
          <a:ln/>
        </p:spPr>
      </p:sp>
      <p:sp>
        <p:nvSpPr>
          <p:cNvPr id="6" name="Text 4"/>
          <p:cNvSpPr/>
          <p:nvPr/>
        </p:nvSpPr>
        <p:spPr>
          <a:xfrm>
            <a:off x="338328" y="1389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1298448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56B0"/>
                </a:solidFill>
              </a:rPr>
              <a:t>Expand High-Demand Routes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1645920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B8DA6"/>
                </a:solidFill>
              </a:rPr>
              <a:t>Increase flights to Doha, Frankfurt &amp; Singapore — top 3 destinations with consistent demand.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09160" y="1188720"/>
            <a:ext cx="416052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18888" y="1389888"/>
            <a:ext cx="457200" cy="457200"/>
          </a:xfrm>
          <a:prstGeom prst="ellipse">
            <a:avLst/>
          </a:prstGeom>
          <a:solidFill>
            <a:srgbClr val="7B3FA0"/>
          </a:solidFill>
          <a:ln/>
        </p:spPr>
      </p:sp>
      <p:sp>
        <p:nvSpPr>
          <p:cNvPr id="11" name="Text 9"/>
          <p:cNvSpPr/>
          <p:nvPr/>
        </p:nvSpPr>
        <p:spPr>
          <a:xfrm>
            <a:off x="4818888" y="1389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394960" y="1298448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3FA0"/>
                </a:solidFill>
              </a:rPr>
              <a:t>Scale Business Class Capacity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394960" y="1645920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B8DA6"/>
                </a:solidFill>
              </a:rPr>
              <a:t>Business class generates 4× more revenue than Economy. Prioritize premium seating expansion.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28600" y="2423160"/>
            <a:ext cx="416052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38328" y="2624328"/>
            <a:ext cx="457200" cy="457200"/>
          </a:xfrm>
          <a:prstGeom prst="ellipse">
            <a:avLst/>
          </a:prstGeom>
          <a:solidFill>
            <a:srgbClr val="00875A"/>
          </a:solidFill>
          <a:ln/>
        </p:spPr>
      </p:sp>
      <p:sp>
        <p:nvSpPr>
          <p:cNvPr id="16" name="Text 14"/>
          <p:cNvSpPr/>
          <p:nvPr/>
        </p:nvSpPr>
        <p:spPr>
          <a:xfrm>
            <a:off x="338328" y="2624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14400" y="2532888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875A"/>
                </a:solidFill>
              </a:rPr>
              <a:t>Target UK &amp; European Markets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4400" y="2880360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B8DA6"/>
                </a:solidFill>
              </a:rPr>
              <a:t>UK leads in both passenger count (127) and Business class bookings (304). Focus marketing here.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09160" y="2423160"/>
            <a:ext cx="416052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18888" y="2624328"/>
            <a:ext cx="457200" cy="45720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1" name="Text 19"/>
          <p:cNvSpPr/>
          <p:nvPr/>
        </p:nvSpPr>
        <p:spPr>
          <a:xfrm>
            <a:off x="4818888" y="2624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394960" y="2532888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</a:rPr>
              <a:t>Launch Sunday Promotions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394960" y="2880360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B8DA6"/>
                </a:solidFill>
              </a:rPr>
              <a:t>Sunday sees peak bookings (746). Run limited-time offers on Sundays to maximize conversions.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28600" y="3657600"/>
            <a:ext cx="416052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38328" y="3858768"/>
            <a:ext cx="457200" cy="457200"/>
          </a:xfrm>
          <a:prstGeom prst="ellipse">
            <a:avLst/>
          </a:prstGeom>
          <a:solidFill>
            <a:srgbClr val="E03131"/>
          </a:solidFill>
          <a:ln/>
        </p:spPr>
      </p:sp>
      <p:sp>
        <p:nvSpPr>
          <p:cNvPr id="26" name="Text 24"/>
          <p:cNvSpPr/>
          <p:nvPr/>
        </p:nvSpPr>
        <p:spPr>
          <a:xfrm>
            <a:off x="338328" y="3858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14400" y="3767328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03131"/>
                </a:solidFill>
              </a:rPr>
              <a:t>Build Loyalty Programs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14400" y="4114800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B8DA6"/>
                </a:solidFill>
              </a:rPr>
              <a:t>Identify frequent flyers (3+ bookings) for personalized loyalty rewards and targeted campaigns.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709160" y="3657600"/>
            <a:ext cx="416052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18888" y="3858768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1" name="Text 29"/>
          <p:cNvSpPr/>
          <p:nvPr/>
        </p:nvSpPr>
        <p:spPr>
          <a:xfrm>
            <a:off x="4818888" y="3858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06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394960" y="3767328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</a:rPr>
              <a:t>March Peak Strategy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394960" y="4114800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B8DA6"/>
                </a:solidFill>
              </a:rPr>
              <a:t>March sees highest bookings (468). Pre-position inventory and pricing for peak demand months.</a:t>
            </a:r>
            <a:endParaRPr lang="en-US" sz="1050" dirty="0"/>
          </a:p>
        </p:txBody>
      </p:sp>
      <p:pic>
        <p:nvPicPr>
          <p:cNvPr id="34" name="Graphic 33" descr="Airplane with solid fill">
            <a:extLst>
              <a:ext uri="{FF2B5EF4-FFF2-40B4-BE49-F238E27FC236}">
                <a16:creationId xmlns:a16="http://schemas.microsoft.com/office/drawing/2014/main" id="{4A046AF3-8DA5-C9C9-7DB3-2459A7A593E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>
            <a:off x="8343900" y="466344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2743200"/>
            <a:ext cx="4572000" cy="4572000"/>
          </a:xfrm>
          <a:prstGeom prst="ellipse">
            <a:avLst/>
          </a:prstGeom>
          <a:solidFill>
            <a:srgbClr val="1A56B0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-1371600"/>
            <a:ext cx="4114800" cy="4114800"/>
          </a:xfrm>
          <a:prstGeom prst="ellipse">
            <a:avLst/>
          </a:prstGeom>
          <a:solidFill>
            <a:srgbClr val="F5A623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400" dirty="0">
                <a:solidFill>
                  <a:srgbClr val="F5A623"/>
                </a:solidFill>
              </a:rPr>
              <a:t>KEY TAKEAWAYS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IN" sz="3600" b="1" dirty="0" err="1">
                <a:solidFill>
                  <a:schemeClr val="bg1"/>
                </a:solidFill>
                <a:latin typeface="Arial Black" panose="020B0A04020102020204" pitchFamily="34" charset="0"/>
              </a:rPr>
              <a:t>SkyHigh</a:t>
            </a:r>
            <a:r>
              <a:rPr lang="en-IN" sz="3600" b="1" dirty="0">
                <a:solidFill>
                  <a:schemeClr val="bg1"/>
                </a:solidFill>
                <a:latin typeface="Arial Black" panose="020B0A04020102020204" pitchFamily="34" charset="0"/>
              </a:rPr>
              <a:t> Analytics</a:t>
            </a:r>
            <a:endParaRPr lang="en-US" sz="3600" b="1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914400" y="1874520"/>
            <a:ext cx="7315200" cy="45720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901952"/>
            <a:ext cx="7132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✈  Adults (20–50) form 56% of all passengers — tailor services to this demographic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14400" y="2404872"/>
            <a:ext cx="7315200" cy="45720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2432304"/>
            <a:ext cx="7132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💺  Business class yields 4× higher avg revenue than Economy (₹36.9K vs ₹8.9K)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14400" y="2935224"/>
            <a:ext cx="7315200" cy="45720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962656"/>
            <a:ext cx="7132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🌍  UK and European markets drive the most bookings — key focus region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14400" y="3465576"/>
            <a:ext cx="7315200" cy="45720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3493008"/>
            <a:ext cx="7132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📅  March peak &amp; Sunday booking patterns reveal clear seasonal and weekly trends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4400" y="3995928"/>
            <a:ext cx="7315200" cy="45720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4023360"/>
            <a:ext cx="7132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🏆  Lufthansa leads in revenue; Air India dominates among Indian passengers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570</Words>
  <Application>Microsoft Office PowerPoint</Application>
  <PresentationFormat>On-screen Show (16:9)</PresentationFormat>
  <Paragraphs>117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Arial Black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SkyHigh Analytics – Airline Booking Report</dc:title>
  <dc:subject>PptxGenJS Presentation</dc:subject>
  <dc:creator>PptxGenJS</dc:creator>
  <cp:lastModifiedBy>Anand Saundarya</cp:lastModifiedBy>
  <cp:revision>6</cp:revision>
  <dcterms:created xsi:type="dcterms:W3CDTF">2026-03-05T19:07:39Z</dcterms:created>
  <dcterms:modified xsi:type="dcterms:W3CDTF">2026-04-18T06:29:36Z</dcterms:modified>
</cp:coreProperties>
</file>